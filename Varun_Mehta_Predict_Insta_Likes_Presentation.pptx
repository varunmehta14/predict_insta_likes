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7"/>
    <p:restoredTop sz="94619"/>
  </p:normalViewPr>
  <p:slideViewPr>
    <p:cSldViewPr snapToGrid="0" snapToObjects="1">
      <p:cViewPr varScale="1">
        <p:scale>
          <a:sx n="109" d="100"/>
          <a:sy n="109" d="100"/>
        </p:scale>
        <p:origin x="7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htavarunj/Predict_insta_likes" TargetMode="External"/><Relationship Id="rId2" Type="http://schemas.openxmlformats.org/officeDocument/2006/relationships/hyperlink" Target="https://www.linkedin.com/in/mehtavarunj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Predicting Instagram Likes Using Machine Learning and CLIP Vision Transformer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Introduction and 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Predict the number of likes on Instagram posts using metadata and image content.</a:t>
            </a:r>
          </a:p>
          <a:p>
            <a:r>
              <a:t>Approach: Combine traditional machine learning techniques with advanced models like CLIP to enhance prediction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Source: Instagram post metadata and associated images.</a:t>
            </a:r>
          </a:p>
          <a:p>
            <a:r>
              <a:t>Features: Likes, comments, follower count, timestamp, and image paths.</a:t>
            </a:r>
          </a:p>
          <a:p>
            <a:r>
              <a:t>Image Analysis: CLIP model to extract visual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57200"/>
            <a:ext cx="3257550" cy="19293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200"/>
              <a:t>Exploratory Data Analysis (EDA)</a:t>
            </a:r>
          </a:p>
        </p:txBody>
      </p:sp>
      <p:sp>
        <p:nvSpPr>
          <p:cNvPr id="1039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5947" y="457200"/>
            <a:ext cx="4505706" cy="19293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900" dirty="0"/>
              <a:t>Key Insights: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900" dirty="0"/>
              <a:t>- Distribution of likes.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900" dirty="0"/>
              <a:t>- Correlation between features (e.g., follower count and likes).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F404ECBE-992A-1A8E-A503-9674B5D6F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9264" y="2632368"/>
            <a:ext cx="4672704" cy="366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4DA6759-DF90-584A-E605-7B85AB88C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90872" y="3091458"/>
            <a:ext cx="4101084" cy="2634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Feature Extraction with CLIP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CLIP Overview: A powerful model by OpenAI that links text and image representations.</a:t>
            </a:r>
          </a:p>
          <a:p>
            <a:r>
              <a:t>Process: Extracted high-dimensional image features using CLIP to incorporate visual content into the prediction model.</a:t>
            </a:r>
          </a:p>
          <a:p>
            <a:r>
              <a:t>Benefit: Enhanced understanding of how visual content influences engagement.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and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Models Used: Linear Regression, </a:t>
            </a:r>
            <a:r>
              <a:rPr lang="en-US" dirty="0" err="1"/>
              <a:t>RandomForestClassifier</a:t>
            </a:r>
            <a:r>
              <a:rPr lang="en-US" dirty="0"/>
              <a:t>,</a:t>
            </a:r>
            <a:r>
              <a:rPr dirty="0"/>
              <a:t> </a:t>
            </a:r>
            <a:r>
              <a:rPr dirty="0" err="1"/>
              <a:t>XGBoost</a:t>
            </a:r>
            <a:r>
              <a:rPr dirty="0"/>
              <a:t>, CLIP-enhanced models</a:t>
            </a:r>
            <a:r>
              <a:rPr lang="en-US" dirty="0"/>
              <a:t>, XGB+PCA, Stacking Classifier(RF + XGB + SVC), </a:t>
            </a:r>
            <a:r>
              <a:rPr lang="en-US" dirty="0" err="1"/>
              <a:t>CatboostClassifier</a:t>
            </a:r>
            <a:endParaRPr dirty="0"/>
          </a:p>
          <a:p>
            <a:r>
              <a:rPr dirty="0"/>
              <a:t>Training: Combined metadata features with image features from CLIP.</a:t>
            </a:r>
          </a:p>
          <a:p>
            <a:r>
              <a:rPr dirty="0"/>
              <a:t>Splitting: Train-test split with 80-20 ratio to validate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Evaluation Metrics: Mean Absolute Error (MAE), Accuracy</a:t>
            </a:r>
            <a:r>
              <a:rPr lang="en-US" dirty="0"/>
              <a:t>, Precision, Recall, F1-score</a:t>
            </a:r>
            <a:r>
              <a:rPr dirty="0"/>
              <a:t>.</a:t>
            </a:r>
          </a:p>
          <a:p>
            <a:r>
              <a:rPr dirty="0"/>
              <a:t>Findings:</a:t>
            </a:r>
          </a:p>
          <a:p>
            <a:r>
              <a:rPr dirty="0"/>
              <a:t>- </a:t>
            </a:r>
            <a:r>
              <a:rPr dirty="0" err="1"/>
              <a:t>XGBoost</a:t>
            </a:r>
            <a:r>
              <a:rPr dirty="0"/>
              <a:t> outperformed basic models.</a:t>
            </a:r>
          </a:p>
          <a:p>
            <a:r>
              <a:rPr dirty="0"/>
              <a:t>- CLIP-enhanced models provided significant improvements in prediction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7" name="Rectangle 2066">
            <a:extLst>
              <a:ext uri="{FF2B5EF4-FFF2-40B4-BE49-F238E27FC236}">
                <a16:creationId xmlns:a16="http://schemas.microsoft.com/office/drawing/2014/main" id="{26FF42C2-EA15-4154-B242-E98E88CED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D79DE9F7-28C4-4856-BA57-D696E124C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81" y="633619"/>
            <a:ext cx="3695560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E1F9ED9C-121B-44C6-A308-5824769C4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175" y="117043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0" name="Rectangle 2069">
            <a:extLst>
              <a:ext uri="{FF2B5EF4-FFF2-40B4-BE49-F238E27FC236}">
                <a16:creationId xmlns:a16="http://schemas.microsoft.com/office/drawing/2014/main" id="{4A5F8185-F27B-4E99-A06C-007336FE3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094" y="2121408"/>
            <a:ext cx="2968987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6C8E357-3606-4A2B-9F59-A36AAE07B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05994" y="3075988"/>
            <a:ext cx="5068498" cy="366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48A0B72-AF8D-586F-2754-0869478D0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94662" y="120024"/>
            <a:ext cx="4379829" cy="28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08739E1-E41E-9806-B707-4C0E47A59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123" y="248672"/>
            <a:ext cx="3975551" cy="248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C34E33-37B7-FABF-6EC8-76476800456D}"/>
              </a:ext>
            </a:extLst>
          </p:cNvPr>
          <p:cNvSpPr txBox="1"/>
          <p:nvPr/>
        </p:nvSpPr>
        <p:spPr>
          <a:xfrm>
            <a:off x="307181" y="3206636"/>
            <a:ext cx="374416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Comparison of Regression models </a:t>
            </a:r>
          </a:p>
          <a:p>
            <a:r>
              <a:rPr lang="en-US" dirty="0"/>
              <a:t>with and without clip features</a:t>
            </a:r>
          </a:p>
          <a:p>
            <a:endParaRPr lang="en-US" dirty="0"/>
          </a:p>
          <a:p>
            <a:r>
              <a:rPr lang="en-US" dirty="0"/>
              <a:t>Comparison of Classification models </a:t>
            </a:r>
          </a:p>
          <a:p>
            <a:r>
              <a:rPr lang="en-US" dirty="0"/>
              <a:t>with and without clip features</a:t>
            </a:r>
          </a:p>
          <a:p>
            <a:endParaRPr lang="en-US" dirty="0"/>
          </a:p>
          <a:p>
            <a:r>
              <a:rPr lang="en-US" dirty="0"/>
              <a:t>20 most important features using </a:t>
            </a:r>
            <a:r>
              <a:rPr lang="en-US" dirty="0" err="1"/>
              <a:t>xgb</a:t>
            </a:r>
            <a:r>
              <a:rPr lang="en-US" dirty="0"/>
              <a:t> </a:t>
            </a:r>
          </a:p>
          <a:p>
            <a:r>
              <a:rPr lang="en-US" dirty="0"/>
              <a:t>feature importance score</a:t>
            </a:r>
          </a:p>
        </p:txBody>
      </p:sp>
    </p:spTree>
    <p:extLst>
      <p:ext uri="{BB962C8B-B14F-4D97-AF65-F5344CB8AC3E}">
        <p14:creationId xmlns:p14="http://schemas.microsoft.com/office/powerpoint/2010/main" val="1680090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DC1EA-F2DB-945B-7EDB-F35D62EBE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60" y="202155"/>
            <a:ext cx="9210907" cy="684367"/>
          </a:xfrm>
        </p:spPr>
        <p:txBody>
          <a:bodyPr>
            <a:normAutofit fontScale="90000"/>
          </a:bodyPr>
          <a:lstStyle/>
          <a:p>
            <a:r>
              <a:rPr lang="en-US" dirty="0"/>
              <a:t>Confusion matrices of different classifiers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20AAE3D-F973-8560-F3E1-3A97E1C18E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363" y="1674443"/>
            <a:ext cx="2783822" cy="246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99C44C8-A7BF-B9BE-4983-E13E179DD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035" y="1719997"/>
            <a:ext cx="2597606" cy="233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D62B0C63-8E75-0CB7-060C-930BC6084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61" y="4191211"/>
            <a:ext cx="2746307" cy="2464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DE970D00-E310-1B07-3D3E-07186B690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637" y="1552880"/>
            <a:ext cx="2783821" cy="249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1D282297-B327-2602-E8B4-8D60E70A5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638" y="4158841"/>
            <a:ext cx="2913890" cy="2615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2D8CFEC6-7FEC-D04A-C836-675B1428D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364" y="4191211"/>
            <a:ext cx="2783822" cy="249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261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IN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Classification</a:t>
            </a:r>
          </a:p>
          <a:p>
            <a:pPr lvl="1"/>
            <a:r>
              <a:rPr lang="en-IN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Accuracy (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CatBoost</a:t>
            </a:r>
            <a:r>
              <a:rPr lang="en-IN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Classifier): 0.9692</a:t>
            </a:r>
          </a:p>
          <a:p>
            <a:pPr lvl="1"/>
            <a:r>
              <a:rPr lang="en-IN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Accuracy (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XGBoost</a:t>
            </a:r>
            <a:r>
              <a:rPr lang="en-IN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with PCA): 0.7958</a:t>
            </a:r>
          </a:p>
          <a:p>
            <a:pPr lvl="1"/>
            <a:r>
              <a:rPr lang="en-IN" i="0" dirty="0">
                <a:solidFill>
                  <a:srgbClr val="212121"/>
                </a:solidFill>
                <a:effectLst/>
                <a:highlight>
                  <a:srgbClr val="FFFF00"/>
                </a:highlight>
                <a:latin typeface="Roboto" panose="02000000000000000000" pitchFamily="2" charset="0"/>
              </a:rPr>
              <a:t>Accuracy (</a:t>
            </a:r>
            <a:r>
              <a:rPr lang="en-IN" i="0" dirty="0" err="1">
                <a:solidFill>
                  <a:srgbClr val="212121"/>
                </a:solidFill>
                <a:effectLst/>
                <a:highlight>
                  <a:srgbClr val="FFFF00"/>
                </a:highlight>
                <a:latin typeface="Roboto" panose="02000000000000000000" pitchFamily="2" charset="0"/>
              </a:rPr>
              <a:t>XGBoost</a:t>
            </a:r>
            <a:r>
              <a:rPr lang="en-IN" i="0" dirty="0">
                <a:solidFill>
                  <a:srgbClr val="212121"/>
                </a:solidFill>
                <a:effectLst/>
                <a:highlight>
                  <a:srgbClr val="FFFF00"/>
                </a:highlight>
                <a:latin typeface="Roboto" panose="02000000000000000000" pitchFamily="2" charset="0"/>
              </a:rPr>
              <a:t> (With selected CLIP Features)): 0.9762</a:t>
            </a:r>
          </a:p>
          <a:p>
            <a:pPr lvl="1"/>
            <a:r>
              <a:rPr lang="en-IN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Accuracy (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XGBoost</a:t>
            </a:r>
            <a:r>
              <a:rPr lang="en-IN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(With CLIP Features)): 0.9720</a:t>
            </a:r>
          </a:p>
          <a:p>
            <a:pPr lvl="1"/>
            <a:r>
              <a:rPr lang="en-IN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Accuracy (Random Forest (Traditional Features)): 0.9580</a:t>
            </a:r>
          </a:p>
          <a:p>
            <a:pPr marL="457200" lvl="1" indent="0">
              <a:buNone/>
            </a:pPr>
            <a:endParaRPr lang="en-IN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en-IN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Regression</a:t>
            </a:r>
          </a:p>
          <a:p>
            <a:pPr lvl="1"/>
            <a:r>
              <a:rPr lang="en-IN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Mean Absolute Error (Traditional Features): 97272.96433000006</a:t>
            </a:r>
          </a:p>
          <a:p>
            <a:pPr lvl="1"/>
            <a:r>
              <a:rPr lang="en-IN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Mean Absolute Error (With CLIP Features): 81443.1082142197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06215" cy="3875049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Summary: Successful integration of advanced visual features using CLIP led to improved predictions.</a:t>
            </a:r>
          </a:p>
          <a:p>
            <a:r>
              <a:rPr dirty="0"/>
              <a:t>Future Work: Potential improvements include tuning hyperparameters, exploring more sophisticated models, and incorporating additional social media metrics</a:t>
            </a:r>
            <a:r>
              <a:rPr lang="en-US" dirty="0"/>
              <a:t> like image analysis to get the gender, number of people inside it, the brightness etc. 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Contact Details: </a:t>
            </a:r>
            <a:r>
              <a:rPr dirty="0" err="1"/>
              <a:t>varun</a:t>
            </a:r>
            <a:r>
              <a:rPr lang="en-US" dirty="0" err="1"/>
              <a:t>jay</a:t>
            </a:r>
            <a:r>
              <a:rPr dirty="0" err="1"/>
              <a:t>@</a:t>
            </a:r>
            <a:r>
              <a:rPr lang="en-US" dirty="0" err="1"/>
              <a:t>usc</a:t>
            </a:r>
            <a:r>
              <a:rPr dirty="0" err="1"/>
              <a:t>.</a:t>
            </a:r>
            <a:r>
              <a:rPr lang="en-US" dirty="0" err="1"/>
              <a:t>edu</a:t>
            </a:r>
            <a:endParaRPr lang="en-US" dirty="0"/>
          </a:p>
          <a:p>
            <a:r>
              <a:rPr lang="en-US" dirty="0"/>
              <a:t>LinkedIn Profile: </a:t>
            </a:r>
            <a:r>
              <a:rPr lang="en-US" dirty="0">
                <a:hlinkClick r:id="rId2"/>
              </a:rPr>
              <a:t>https://www.linkedin.com/in/mehtavarunj/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IN" dirty="0" err="1"/>
              <a:t>Github</a:t>
            </a:r>
            <a:r>
              <a:rPr lang="en-IN" dirty="0"/>
              <a:t> code: </a:t>
            </a:r>
            <a:r>
              <a:rPr lang="en-IN" dirty="0">
                <a:hlinkClick r:id="rId3"/>
              </a:rPr>
              <a:t>https://github.com/mehtavarunj/Predict_insta_likes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440</Words>
  <Application>Microsoft Macintosh PowerPoint</Application>
  <PresentationFormat>On-screen Show (4:3)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Roboto</vt:lpstr>
      <vt:lpstr>Office Theme</vt:lpstr>
      <vt:lpstr>Predicting Instagram Likes Using Machine Learning and CLIP Vision Transformer</vt:lpstr>
      <vt:lpstr>Introduction and Problem Definition</vt:lpstr>
      <vt:lpstr>Data Overview</vt:lpstr>
      <vt:lpstr>Exploratory Data Analysis (EDA)</vt:lpstr>
      <vt:lpstr>Image Feature Extraction with CLIP</vt:lpstr>
      <vt:lpstr>Model Selection and Training</vt:lpstr>
      <vt:lpstr>Model Performance</vt:lpstr>
      <vt:lpstr>PowerPoint Presentation</vt:lpstr>
      <vt:lpstr>Confusion matrices of different classifiers</vt:lpstr>
      <vt:lpstr>Key Findings</vt:lpstr>
      <vt:lpstr>Conclusion</vt:lpstr>
      <vt:lpstr>Contact Information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Mehta</cp:lastModifiedBy>
  <cp:revision>2</cp:revision>
  <dcterms:created xsi:type="dcterms:W3CDTF">2013-01-27T09:14:16Z</dcterms:created>
  <dcterms:modified xsi:type="dcterms:W3CDTF">2024-09-26T22:02:54Z</dcterms:modified>
  <cp:category/>
</cp:coreProperties>
</file>